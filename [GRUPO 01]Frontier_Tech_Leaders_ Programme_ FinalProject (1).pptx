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Helvetica Neue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Light-bold.fntdata"/><Relationship Id="rId25" Type="http://schemas.openxmlformats.org/officeDocument/2006/relationships/font" Target="fonts/HelveticaNeueLight-regular.fntdata"/><Relationship Id="rId28" Type="http://schemas.openxmlformats.org/officeDocument/2006/relationships/font" Target="fonts/HelveticaNeueLight-boldItalic.fntdata"/><Relationship Id="rId27" Type="http://schemas.openxmlformats.org/officeDocument/2006/relationships/font" Target="fonts/HelveticaNeue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2a607dbac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g3a2a607dbac_0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2a607dbac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g3a2a607dbac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d4362591424ced3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g2d4362591424ced3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d4362591424ced3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g2d4362591424ced3_1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d4362591424ced3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g2d4362591424ced3_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d4362591424ced3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2d4362591424ced3_1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d4362591424ced3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g2d4362591424ced3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d4362591424ced3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g2d4362591424ced3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d4362591424ced3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g2d4362591424ced3_1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d4362591424ced3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g2d4362591424ced3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" name="Google Shape;51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Header">
  <p:cSld name="3_Section 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wo Content">
  <p:cSld name="4_Two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>
  <p:cSld name="3_Content with Caption">
    <p:bg>
      <p:bgPr>
        <a:solidFill>
          <a:srgbClr val="2B255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6" name="Google Shape;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7" name="Google Shape;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8" name="Google Shape;2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9" name="Google Shape;2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8"/>
          <p:cNvSpPr txBox="1"/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icture with Caption">
  <p:cSld name="3_Picture with Caption">
    <p:bg>
      <p:bgPr>
        <a:solidFill>
          <a:srgbClr val="2B255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35" name="Google Shape;3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36" name="Google Shape;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37" name="Google Shape;3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38" name="Google Shape;3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9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9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ue background">
  <p:cSld name="3_Blue background">
    <p:bg>
      <p:bgPr>
        <a:solidFill>
          <a:srgbClr val="2B255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 b="0" i="0" sz="1200" u="none" cap="none" strike="noStrike">
              <a:solidFill>
                <a:srgbClr val="FEFFFE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rgbClr val="2B255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46" name="Google Shape;4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47" name="Google Shape;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48" name="Google Shape;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49" name="Google Shape;4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bg>
      <p:bgPr>
        <a:solidFill>
          <a:srgbClr val="2B255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54" name="Google Shape;5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55" name="Google Shape;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56" name="Google Shape;5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57" name="Google Shape;5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2"/>
          <p:cNvSpPr txBox="1"/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rgbClr val="2B255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62" name="Google Shape;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63" name="Google Shape;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64" name="Google Shape;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65" name="Google Shape;6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wo Content">
  <p:cSld name="3_Two Content">
    <p:bg>
      <p:bgPr>
        <a:solidFill>
          <a:srgbClr val="2B255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70" name="Google Shape;7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72" name="Google Shape;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73" name="Google Shape;7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solidFill>
          <a:srgbClr val="2B255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78" name="Google Shape;7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79" name="Google Shape;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80" name="Google Shape;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81" name="Google Shape;8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bg>
      <p:bgPr>
        <a:solidFill>
          <a:srgbClr val="2B255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85" name="Google Shape;8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86" name="Google Shape;8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87" name="Google Shape;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88" name="Google Shape;8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>
  <p:cSld name="2_Content with Caption">
    <p:bg>
      <p:bgPr>
        <a:solidFill>
          <a:srgbClr val="2B255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91" name="Google Shape;9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92" name="Google Shape;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93" name="Google Shape;9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94" name="Google Shape;9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bg>
      <p:bgPr>
        <a:solidFill>
          <a:srgbClr val="2B255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00" name="Google Shape;10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01" name="Google Shape;1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02" name="Google Shape;1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03" name="Google Shape;10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05" name="Google Shape;105;p18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ue background">
  <p:cSld name="2_Blue background">
    <p:bg>
      <p:bgPr>
        <a:solidFill>
          <a:srgbClr val="2B255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 b="0" i="0" sz="1200" u="none" cap="none" strike="noStrike">
              <a:solidFill>
                <a:srgbClr val="FEFFFE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solidFill>
          <a:srgbClr val="2B255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11" name="Google Shape;1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12" name="Google Shape;1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13" name="Google Shape;1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14" name="Google Shape;11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solidFill>
          <a:srgbClr val="2B255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20" name="Google Shape;1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21" name="Google Shape;1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22" name="Google Shape;1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bg>
      <p:bgPr>
        <a:solidFill>
          <a:srgbClr val="2B255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27" name="Google Shape;12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28" name="Google Shape;1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29" name="Google Shape;1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30" name="Google Shape;1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bg>
      <p:bgPr>
        <a:solidFill>
          <a:srgbClr val="2B255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35" name="Google Shape;13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36" name="Google Shape;1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37" name="Google Shape;1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38" name="Google Shape;13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bg>
      <p:bgPr>
        <a:solidFill>
          <a:srgbClr val="2B255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43" name="Google Shape;14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44" name="Google Shape;1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45" name="Google Shape;1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46" name="Google Shape;14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idx="2" type="body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rgbClr val="2B255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52" name="Google Shape;15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53" name="Google Shape;1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54" name="Google Shape;15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55" name="Google Shape;15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5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rgbClr val="2B255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59" name="Google Shape;15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60" name="Google Shape;16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61" name="Google Shape;16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62" name="Google Shape;16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bg>
      <p:bgPr>
        <a:solidFill>
          <a:srgbClr val="2B255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65" name="Google Shape;16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66" name="Google Shape;1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67" name="Google Shape;16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68" name="Google Shape;16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7"/>
          <p:cNvSpPr txBox="1"/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bg>
      <p:bgPr>
        <a:solidFill>
          <a:srgbClr val="2B255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74" name="Google Shape;17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75" name="Google Shape;1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76" name="Google Shape;17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77" name="Google Shape;17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8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79" name="Google Shape;179;p28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ue background">
  <p:cSld name="1_Blue background">
    <p:bg>
      <p:bgPr>
        <a:solidFill>
          <a:srgbClr val="2B255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 b="0" i="0" sz="1200" u="none" cap="none" strike="noStrike">
              <a:solidFill>
                <a:srgbClr val="FEFFFE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2B255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85" name="Google Shape;18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86" name="Google Shape;18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87" name="Google Shape;18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88" name="Google Shape;18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0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rgbClr val="2B255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93" name="Google Shape;19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94" name="Google Shape;19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95" name="Google Shape;19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96" name="Google Shape;19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1"/>
          <p:cNvSpPr txBox="1"/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2B255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01" name="Google Shape;20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02" name="Google Shape;20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03" name="Google Shape;20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04" name="Google Shape;20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32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2B255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09" name="Google Shape;20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10" name="Google Shape;21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11" name="Google Shape;21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12" name="Google Shape;21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33"/>
          <p:cNvSpPr txBox="1"/>
          <p:nvPr>
            <p:ph idx="2" type="body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33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rgbClr val="2B255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18" name="Google Shape;218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19" name="Google Shape;2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20" name="Google Shape;22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21" name="Google Shape;22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4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23" name="Google Shape;223;p34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2B255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25" name="Google Shape;22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26" name="Google Shape;22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27" name="Google Shape;22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28" name="Google Shape;22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2B255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31" name="Google Shape;23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32" name="Google Shape;23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33" name="Google Shape;23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34" name="Google Shape;23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6"/>
          <p:cNvSpPr txBox="1"/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36" name="Google Shape;236;p36"/>
          <p:cNvSpPr txBox="1"/>
          <p:nvPr>
            <p:ph idx="1" type="body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36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p36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2B255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40" name="Google Shape;24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41" name="Google Shape;2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42" name="Google Shape;24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43" name="Google Shape;24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7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45" name="Google Shape;245;p37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37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background">
  <p:cSld name="Blue background">
    <p:bg>
      <p:bgPr>
        <a:solidFill>
          <a:srgbClr val="2B255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idx="12" type="sldNum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 b="0" i="0" sz="1200" u="none" cap="none" strike="noStrike">
              <a:solidFill>
                <a:srgbClr val="FEFFFE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1039653" y="1153987"/>
            <a:ext cx="10112695" cy="921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1039653" y="2087362"/>
            <a:ext cx="4919546" cy="4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p39"/>
          <p:cNvSpPr txBox="1"/>
          <p:nvPr>
            <p:ph idx="2" type="body"/>
          </p:nvPr>
        </p:nvSpPr>
        <p:spPr>
          <a:xfrm>
            <a:off x="6232802" y="2087362"/>
            <a:ext cx="4919546" cy="408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3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5" name="Google Shape;255;p3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39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Relationship Id="rId4" Type="http://schemas.openxmlformats.org/officeDocument/2006/relationships/image" Target="../media/image6.png"/><Relationship Id="rId9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24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21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sitting at a desk using a computer&#10;&#10;Description automatically generated" id="261" name="Google Shape;261;p40"/>
          <p:cNvPicPr preferRelativeResize="0"/>
          <p:nvPr/>
        </p:nvPicPr>
        <p:blipFill rotWithShape="1">
          <a:blip r:embed="rId3">
            <a:alphaModFix/>
          </a:blip>
          <a:srcRect b="35700" l="28" r="5881" t="125"/>
          <a:stretch/>
        </p:blipFill>
        <p:spPr>
          <a:xfrm>
            <a:off x="-2985" y="1339747"/>
            <a:ext cx="12225969" cy="553368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0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263" name="Google Shape;26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64" name="Google Shape;264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265" name="Google Shape;265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266" name="Google Shape;266;p40"/>
          <p:cNvPicPr preferRelativeResize="0"/>
          <p:nvPr/>
        </p:nvPicPr>
        <p:blipFill rotWithShape="1">
          <a:blip r:embed="rId7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67" name="Google Shape;267;p40"/>
          <p:cNvPicPr preferRelativeResize="0"/>
          <p:nvPr/>
        </p:nvPicPr>
        <p:blipFill rotWithShape="1">
          <a:blip r:embed="rId8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68" name="Google Shape;268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0"/>
          <p:cNvSpPr/>
          <p:nvPr/>
        </p:nvSpPr>
        <p:spPr>
          <a:xfrm rot="-179923">
            <a:off x="6868664" y="3853723"/>
            <a:ext cx="3337570" cy="612841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0"/>
          <p:cNvSpPr txBox="1"/>
          <p:nvPr/>
        </p:nvSpPr>
        <p:spPr>
          <a:xfrm>
            <a:off x="6093185" y="3237021"/>
            <a:ext cx="43371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Microsoft YaHei"/>
              <a:buNone/>
            </a:pPr>
            <a:r>
              <a:rPr b="1" i="0" lang="pt" sz="37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Uma nova geração</a:t>
            </a:r>
            <a:endParaRPr b="1" i="0" sz="1800" u="none" cap="none" strike="noStrike">
              <a:solidFill>
                <a:srgbClr val="FEFFFE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Microsoft YaHei"/>
              <a:buNone/>
            </a:pPr>
            <a:r>
              <a:rPr b="1" i="0" lang="pt" sz="37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 especialistas em tecnologia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/>
          <p:nvPr/>
        </p:nvSpPr>
        <p:spPr>
          <a:xfrm>
            <a:off x="-7595975" y="1250500"/>
            <a:ext cx="12203700" cy="5521500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276" name="Google Shape;27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77" name="Google Shape;27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278" name="Google Shape;27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279" name="Google Shape;279;p41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80" name="Google Shape;280;p41"/>
          <p:cNvPicPr preferRelativeResize="0"/>
          <p:nvPr/>
        </p:nvPicPr>
        <p:blipFill rotWithShape="1">
          <a:blip r:embed="rId7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81" name="Google Shape;281;p41"/>
          <p:cNvPicPr preferRelativeResize="0"/>
          <p:nvPr/>
        </p:nvPicPr>
        <p:blipFill rotWithShape="1">
          <a:blip r:embed="rId8">
            <a:alphaModFix/>
          </a:blip>
          <a:srcRect b="-1279" l="-310" r="310" t="1280"/>
          <a:stretch/>
        </p:blipFill>
        <p:spPr>
          <a:xfrm>
            <a:off x="366947" y="20906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1"/>
          <p:cNvSpPr txBox="1"/>
          <p:nvPr/>
        </p:nvSpPr>
        <p:spPr>
          <a:xfrm>
            <a:off x="4731642" y="1434800"/>
            <a:ext cx="7049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YaHei"/>
              <a:buNone/>
            </a:pPr>
            <a:r>
              <a:rPr b="1" lang="pt" sz="2400">
                <a:solidFill>
                  <a:srgbClr val="2B25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TÍTULO: RECOMENDADOR INTELIGENTE DE HOSPEDAGEM SUSTENTÁVEL</a:t>
            </a:r>
            <a:endParaRPr b="1" i="0" sz="2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83" name="Google Shape;283;p41"/>
          <p:cNvSpPr txBox="1"/>
          <p:nvPr/>
        </p:nvSpPr>
        <p:spPr>
          <a:xfrm>
            <a:off x="4731650" y="3187780"/>
            <a:ext cx="7049400" cy="21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YaHei"/>
              <a:buNone/>
            </a:pPr>
            <a:r>
              <a:rPr b="1" lang="pt" sz="2400">
                <a:solidFill>
                  <a:srgbClr val="2B25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GRUPO Nº 01</a:t>
            </a:r>
            <a:endParaRPr b="1" sz="2400">
              <a:solidFill>
                <a:srgbClr val="2B255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400"/>
              <a:buFont typeface="Times New Roman"/>
              <a:buAutoNum type="arabicPeriod"/>
            </a:pPr>
            <a:r>
              <a:rPr b="1" lang="pt" sz="2400">
                <a:solidFill>
                  <a:srgbClr val="2B25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ARSÉRIO EURICO MUASSANGUE</a:t>
            </a:r>
            <a:endParaRPr b="1" sz="2400">
              <a:solidFill>
                <a:srgbClr val="2B255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400"/>
              <a:buFont typeface="Times New Roman"/>
              <a:buAutoNum type="arabicPeriod"/>
            </a:pPr>
            <a:r>
              <a:rPr b="1" lang="pt" sz="2400">
                <a:solidFill>
                  <a:srgbClr val="2B25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EDGAR DELFINO TCHISSINGUI</a:t>
            </a:r>
            <a:endParaRPr b="1" sz="2400">
              <a:solidFill>
                <a:srgbClr val="2B255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400"/>
              <a:buFont typeface="Times New Roman"/>
              <a:buAutoNum type="arabicPeriod"/>
            </a:pPr>
            <a:r>
              <a:rPr b="1" lang="pt" sz="2400">
                <a:solidFill>
                  <a:srgbClr val="2B25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FRANCISCO ADÃO VIKA MANUEL</a:t>
            </a:r>
            <a:endParaRPr b="1" sz="2400">
              <a:solidFill>
                <a:srgbClr val="2B255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400"/>
              <a:buFont typeface="Times New Roman"/>
              <a:buAutoNum type="arabicPeriod"/>
            </a:pPr>
            <a:r>
              <a:rPr b="1" lang="pt" sz="2400">
                <a:solidFill>
                  <a:srgbClr val="2B25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RAQUEL DE JESUS JOÃO</a:t>
            </a:r>
            <a:endParaRPr b="1" sz="2400">
              <a:solidFill>
                <a:srgbClr val="2B255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 txBox="1"/>
          <p:nvPr>
            <p:ph idx="1" type="body"/>
          </p:nvPr>
        </p:nvSpPr>
        <p:spPr>
          <a:xfrm>
            <a:off x="668725" y="1526478"/>
            <a:ext cx="10848900" cy="38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2730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B2551"/>
              </a:buClr>
              <a:buSzPts val="2300"/>
              <a:buChar char="•"/>
            </a:pP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O turismo é uma das maiores oportunidades de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diversificação económica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em Angola, com grande potencial ecológico e cultural.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B2551"/>
              </a:buClr>
              <a:buSzPts val="2300"/>
              <a:buChar char="•"/>
            </a:pP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Alojamentos sustentávei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(pousadas, lodges, quintas ecológicas) 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permanecem invisíveis nas plataformas digitais, avaliados apenas por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preço e conforto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B2551"/>
              </a:buClr>
              <a:buSzPts val="2300"/>
              <a:buChar char="•"/>
            </a:pP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Falta um sistema inteligente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que conecte sustentabilidade, inovação e desenvolvimento local.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B2551"/>
              </a:buClr>
              <a:buSzPts val="2300"/>
              <a:buChar char="•"/>
            </a:pP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Essa lacuna é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um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desafio e uma oportunidade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para posicionar Angola como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referência em turismo sustentável na África Austral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2"/>
          <p:cNvSpPr/>
          <p:nvPr/>
        </p:nvSpPr>
        <p:spPr>
          <a:xfrm rot="-341520">
            <a:off x="836814" y="850166"/>
            <a:ext cx="2392597" cy="498066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2"/>
          <p:cNvSpPr txBox="1"/>
          <p:nvPr>
            <p:ph type="title"/>
          </p:nvPr>
        </p:nvSpPr>
        <p:spPr>
          <a:xfrm>
            <a:off x="771032" y="673236"/>
            <a:ext cx="26415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CONTEXTO 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291" name="Google Shape;29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2" name="Google Shape;292;p42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293" name="Google Shape;293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294" name="Google Shape;294;p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42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" name="Google Shape;297;p42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>
            <p:ph idx="1" type="body"/>
          </p:nvPr>
        </p:nvSpPr>
        <p:spPr>
          <a:xfrm>
            <a:off x="668725" y="1723925"/>
            <a:ext cx="10848900" cy="38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2730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B2551"/>
              </a:buClr>
              <a:buSzPts val="2300"/>
              <a:buChar char="•"/>
            </a:pP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Desenvolver um sistema inteligente de recomendação, baseado em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machine learning supervisionado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, que 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IDENTIFIQUE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CLASSIFIQUE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RECOMENDE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hospedagens sustentáveis em Angola, promovendo práticas ecológicas, consumo responsável e turismo consciente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3"/>
          <p:cNvSpPr/>
          <p:nvPr/>
        </p:nvSpPr>
        <p:spPr>
          <a:xfrm rot="-134813">
            <a:off x="649962" y="953388"/>
            <a:ext cx="4132077" cy="63229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3"/>
          <p:cNvSpPr txBox="1"/>
          <p:nvPr>
            <p:ph type="title"/>
          </p:nvPr>
        </p:nvSpPr>
        <p:spPr>
          <a:xfrm>
            <a:off x="586810" y="846878"/>
            <a:ext cx="5559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OBJECTIVO GERAL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305" name="Google Shape;3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43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07" name="Google Shape;307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08" name="Google Shape;308;p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4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43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1" name="Google Shape;311;p43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4"/>
          <p:cNvSpPr txBox="1"/>
          <p:nvPr>
            <p:ph idx="1" type="body"/>
          </p:nvPr>
        </p:nvSpPr>
        <p:spPr>
          <a:xfrm>
            <a:off x="579118" y="1749778"/>
            <a:ext cx="11049000" cy="45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A proposta do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Recomendador Inteligente de Hospedagem Sustentável (RIHS) 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responde diretamente às metas dos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Objetivos de Desenvolvimento Sustentável (ODS)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, promovendo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turismo verde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consumo responsável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acção climática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300"/>
              <a:buAutoNum type="arabicPeriod"/>
            </a:pP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ODS 8 – TRABALHO DECENTE E CRESCIMENTO ECONÓMICO: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Promove o turismo verde, gera empregos e fortalece microempreendedores locais.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300"/>
              <a:buAutoNum type="arabicPeriod"/>
            </a:pP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ODS 12 – CONSUMO E PRODUÇÃO RESPONSÁVEIS: 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Incentiva o consumo consciente e valoriza práticas sustentáveis no uso de recursos.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300"/>
              <a:buAutoNum type="arabicPeriod"/>
            </a:pP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ODS 13 – ACÇÃO CLIMÁTICA: </a:t>
            </a: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Destaca hospedagens de baixa pegada de carbono e uso de energias limpas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4"/>
          <p:cNvSpPr/>
          <p:nvPr/>
        </p:nvSpPr>
        <p:spPr>
          <a:xfrm rot="-156435">
            <a:off x="640859" y="844125"/>
            <a:ext cx="4992368" cy="619542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4"/>
          <p:cNvSpPr txBox="1"/>
          <p:nvPr>
            <p:ph type="title"/>
          </p:nvPr>
        </p:nvSpPr>
        <p:spPr>
          <a:xfrm>
            <a:off x="640851" y="719174"/>
            <a:ext cx="50847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RELAÇÃO COM OS ODS</a:t>
            </a: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319" name="Google Shape;31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p44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21" name="Google Shape;321;p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22" name="Google Shape;322;p4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4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44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5" name="Google Shape;325;p44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5"/>
          <p:cNvSpPr txBox="1"/>
          <p:nvPr>
            <p:ph idx="1" type="body"/>
          </p:nvPr>
        </p:nvSpPr>
        <p:spPr>
          <a:xfrm>
            <a:off x="640850" y="1519208"/>
            <a:ext cx="10964700" cy="48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285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b="1"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PROPOSTA DE SOLUÇÃO</a:t>
            </a:r>
            <a:endParaRPr b="1"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O Recomendador Inteligente de Hospedagem Sustentável propõe-se a criar uma plataforma digital baseada em IA que identifica e recomenda alojamentos comprometidos com práticas sustentáveis, fortalecendo a economia verde e a visibilidade de empreendedores locais.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b="1"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CONCEITO CENTRAL</a:t>
            </a:r>
            <a:endParaRPr b="1"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Font typeface="Arial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O sistema utiliza algoritmos de machine learning supervisionado para analisar múltiplos indicadores — </a:t>
            </a:r>
            <a:r>
              <a:rPr b="1"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ambientais, sociais e econômicos</a:t>
            </a: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— e classificar alojamentos segundo o seu nível de sustentabilidade.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5"/>
          <p:cNvSpPr/>
          <p:nvPr/>
        </p:nvSpPr>
        <p:spPr>
          <a:xfrm rot="-202470">
            <a:off x="669566" y="690068"/>
            <a:ext cx="5907042" cy="619382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5"/>
          <p:cNvSpPr txBox="1"/>
          <p:nvPr>
            <p:ph type="title"/>
          </p:nvPr>
        </p:nvSpPr>
        <p:spPr>
          <a:xfrm>
            <a:off x="640851" y="580555"/>
            <a:ext cx="5964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ELEMENTOS DO PROJECTO</a:t>
            </a:r>
            <a:endParaRPr/>
          </a:p>
        </p:txBody>
      </p:sp>
      <p:pic>
        <p:nvPicPr>
          <p:cNvPr descr="Image" id="333" name="Google Shape;3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45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35" name="Google Shape;335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36" name="Google Shape;336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45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9" name="Google Shape;339;p45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/>
          <p:nvPr>
            <p:ph idx="1" type="body"/>
          </p:nvPr>
        </p:nvSpPr>
        <p:spPr>
          <a:xfrm>
            <a:off x="640850" y="1519208"/>
            <a:ext cx="10964700" cy="48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285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b="1"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CAMADA DE DADOS</a:t>
            </a:r>
            <a:endParaRPr b="1"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Colecta (APIs, web scraping), Armazenamento (PostgreSQL + PostGIS, Data Lake S3), Versionamento (DVC).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b="1"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CAMADA DE MACHINE LEARNING</a:t>
            </a:r>
            <a:endParaRPr b="1"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MLflow + scikit-learn + XGBoost.</a:t>
            </a:r>
            <a:endParaRPr b="1"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Font typeface="Arial"/>
              <a:buChar char="•"/>
            </a:pPr>
            <a:r>
              <a:rPr b="1"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CAMADA DE VISUALIZAÇÃO</a:t>
            </a:r>
            <a:endParaRPr b="1"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Next.js + TailwindCSS + Mapbox + Chart.js.</a:t>
            </a:r>
            <a:endParaRPr b="1"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Font typeface="Arial"/>
              <a:buChar char="•"/>
            </a:pPr>
            <a:r>
              <a:rPr b="1"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INFRAESTRUTURA CLOUD</a:t>
            </a:r>
            <a:endParaRPr b="1"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Docker + Kubernetes (EKS/GKE) + Prometheus + Grafana.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6"/>
          <p:cNvSpPr/>
          <p:nvPr/>
        </p:nvSpPr>
        <p:spPr>
          <a:xfrm rot="-202470">
            <a:off x="669566" y="690068"/>
            <a:ext cx="5907042" cy="619382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6"/>
          <p:cNvSpPr txBox="1"/>
          <p:nvPr>
            <p:ph type="title"/>
          </p:nvPr>
        </p:nvSpPr>
        <p:spPr>
          <a:xfrm>
            <a:off x="640851" y="580555"/>
            <a:ext cx="5964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ELEMENTOS DO PROJECTO</a:t>
            </a:r>
            <a:endParaRPr/>
          </a:p>
        </p:txBody>
      </p:sp>
      <p:pic>
        <p:nvPicPr>
          <p:cNvPr descr="Image" id="347" name="Google Shape;34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46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49" name="Google Shape;349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50" name="Google Shape;350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4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46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3" name="Google Shape;353;p46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idx="1" type="body"/>
          </p:nvPr>
        </p:nvSpPr>
        <p:spPr>
          <a:xfrm>
            <a:off x="640850" y="1519208"/>
            <a:ext cx="10964700" cy="48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285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b="1"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MODELOS DE MACHINE LEARNING</a:t>
            </a:r>
            <a:endParaRPr b="1"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Random Forest: baseline interpretável.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XGBoost: desempenho oPtimizado e regularização.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Regressão Logística: baseline probabilístico.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b="1"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MÓDULO DE NLP</a:t>
            </a:r>
            <a:endParaRPr b="1"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Font typeface="Arial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BERT / DistilBERT: análise contextual de reviews.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b="1"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EXPLICABILIDADE (XAI)</a:t>
            </a:r>
            <a:endParaRPr b="1"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Font typeface="Arial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SHAP: explica decisões globais e locais.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Font typeface="Arial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LIME: gera cenários contrafactuais.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Char char="•"/>
            </a:pPr>
            <a:r>
              <a:rPr b="1"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SUSTENTABILIDADE TECNOLÓGICA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Font typeface="Arial"/>
              <a:buChar char="•"/>
            </a:pP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Modelos leves (DistilBERT quantizado, inferência em batch).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723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500"/>
              <a:buFont typeface="Arial"/>
              <a:buChar char="•"/>
            </a:pPr>
            <a:r>
              <a:rPr b="1" lang="pt" sz="2500" u="sng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Deploy serverless</a:t>
            </a:r>
            <a:r>
              <a:rPr b="1"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" sz="25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baixo custo e baixo consumo energético.</a:t>
            </a:r>
            <a:endParaRPr sz="25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7"/>
          <p:cNvSpPr/>
          <p:nvPr/>
        </p:nvSpPr>
        <p:spPr>
          <a:xfrm rot="-202470">
            <a:off x="669566" y="690068"/>
            <a:ext cx="5907042" cy="619382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7"/>
          <p:cNvSpPr txBox="1"/>
          <p:nvPr>
            <p:ph type="title"/>
          </p:nvPr>
        </p:nvSpPr>
        <p:spPr>
          <a:xfrm>
            <a:off x="640851" y="580555"/>
            <a:ext cx="5964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ELEMENTOS DO PROJECTO</a:t>
            </a:r>
            <a:endParaRPr/>
          </a:p>
        </p:txBody>
      </p:sp>
      <p:pic>
        <p:nvPicPr>
          <p:cNvPr descr="Image" id="361" name="Google Shape;36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47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63" name="Google Shape;363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64" name="Google Shape;364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4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47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7" name="Google Shape;367;p47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8"/>
          <p:cNvSpPr txBox="1"/>
          <p:nvPr>
            <p:ph idx="1" type="body"/>
          </p:nvPr>
        </p:nvSpPr>
        <p:spPr>
          <a:xfrm>
            <a:off x="640850" y="1480800"/>
            <a:ext cx="11049000" cy="46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3111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900"/>
              <a:buChar char="•"/>
            </a:pPr>
            <a:r>
              <a:rPr b="1"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Mapeamento das Fontes:</a:t>
            </a:r>
            <a:r>
              <a:rPr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Análise inicial e data dictionary</a:t>
            </a:r>
            <a:endParaRPr sz="29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900"/>
              <a:buChar char="•"/>
            </a:pPr>
            <a:r>
              <a:rPr b="1"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Pipeline ETL:</a:t>
            </a:r>
            <a:r>
              <a:rPr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Extração, transformação e carregamento modular</a:t>
            </a:r>
            <a:endParaRPr sz="29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900"/>
              <a:buChar char="•"/>
            </a:pPr>
            <a:r>
              <a:rPr b="1"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Normalização</a:t>
            </a:r>
            <a:r>
              <a:rPr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e padronização de dados</a:t>
            </a:r>
            <a:endParaRPr sz="29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900"/>
              <a:buChar char="•"/>
            </a:pPr>
            <a:r>
              <a:rPr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Tratamento de nulos e outliers</a:t>
            </a:r>
            <a:endParaRPr sz="29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900"/>
              <a:buChar char="•"/>
            </a:pPr>
            <a:r>
              <a:rPr b="1"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Engenharia de Atributos:</a:t>
            </a:r>
            <a:r>
              <a:rPr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 Criação de features ecológicas</a:t>
            </a:r>
            <a:endParaRPr sz="29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900"/>
              <a:buChar char="•"/>
            </a:pPr>
            <a:r>
              <a:rPr b="1"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NLP para análise de sentimento</a:t>
            </a:r>
            <a:r>
              <a:rPr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s e keywords</a:t>
            </a:r>
            <a:endParaRPr sz="29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900"/>
              <a:buChar char="•"/>
            </a:pPr>
            <a:r>
              <a:rPr b="1"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Preparação para ML e Validação</a:t>
            </a:r>
            <a:endParaRPr b="1" sz="29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900"/>
              <a:buFont typeface="Arial"/>
              <a:buChar char="•"/>
            </a:pPr>
            <a:r>
              <a:rPr b="1" lang="pt" sz="29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Treinamento do Modelo</a:t>
            </a:r>
            <a:endParaRPr b="1" sz="29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8"/>
          <p:cNvSpPr/>
          <p:nvPr/>
        </p:nvSpPr>
        <p:spPr>
          <a:xfrm rot="-384107">
            <a:off x="778583" y="726077"/>
            <a:ext cx="2034084" cy="593217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8"/>
          <p:cNvSpPr txBox="1"/>
          <p:nvPr>
            <p:ph type="title"/>
          </p:nvPr>
        </p:nvSpPr>
        <p:spPr>
          <a:xfrm>
            <a:off x="779753" y="611397"/>
            <a:ext cx="21216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ROTEIRO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375" name="Google Shape;37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48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77" name="Google Shape;377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78" name="Google Shape;378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p4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" name="Google Shape;380;p48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1" name="Google Shape;381;p48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"/>
          <p:cNvSpPr/>
          <p:nvPr/>
        </p:nvSpPr>
        <p:spPr>
          <a:xfrm rot="-130166">
            <a:off x="517352" y="694499"/>
            <a:ext cx="7608053" cy="619642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9"/>
          <p:cNvSpPr txBox="1"/>
          <p:nvPr>
            <p:ph type="title"/>
          </p:nvPr>
        </p:nvSpPr>
        <p:spPr>
          <a:xfrm>
            <a:off x="461654" y="54754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DESENVOLVIMENTO DE PROJECTO</a:t>
            </a:r>
            <a:endParaRPr/>
          </a:p>
        </p:txBody>
      </p:sp>
      <p:pic>
        <p:nvPicPr>
          <p:cNvPr descr="Image" id="388" name="Google Shape;38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49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90" name="Google Shape;390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91" name="Google Shape;391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4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49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4" name="Google Shape;394;p49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p49" title="correlacao_datase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87955" y="1298975"/>
            <a:ext cx="5862400" cy="528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"/>
          <p:cNvSpPr txBox="1"/>
          <p:nvPr>
            <p:ph idx="1" type="body"/>
          </p:nvPr>
        </p:nvSpPr>
        <p:spPr>
          <a:xfrm>
            <a:off x="640850" y="1620450"/>
            <a:ext cx="11049000" cy="45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pt" sz="1600">
                <a:latin typeface="Arial"/>
                <a:ea typeface="Arial"/>
                <a:cs typeface="Arial"/>
                <a:sym typeface="Arial"/>
              </a:rPr>
              <a:t>-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0"/>
          <p:cNvSpPr/>
          <p:nvPr/>
        </p:nvSpPr>
        <p:spPr>
          <a:xfrm rot="-130166">
            <a:off x="517352" y="694499"/>
            <a:ext cx="7608053" cy="619642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0"/>
          <p:cNvSpPr txBox="1"/>
          <p:nvPr>
            <p:ph type="title"/>
          </p:nvPr>
        </p:nvSpPr>
        <p:spPr>
          <a:xfrm>
            <a:off x="461654" y="54754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DESENVOLVIMENTO DE PROJECTO</a:t>
            </a:r>
            <a:endParaRPr/>
          </a:p>
        </p:txBody>
      </p:sp>
      <p:pic>
        <p:nvPicPr>
          <p:cNvPr descr="Image" id="403" name="Google Shape;40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4" name="Google Shape;404;p50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05" name="Google Shape;405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06" name="Google Shape;406;p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p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8" name="Google Shape;408;p50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" name="Google Shape;409;p50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50" title="train_0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62949" y="1174118"/>
            <a:ext cx="8354091" cy="544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1"/>
          <p:cNvSpPr txBox="1"/>
          <p:nvPr>
            <p:ph idx="1" type="body"/>
          </p:nvPr>
        </p:nvSpPr>
        <p:spPr>
          <a:xfrm>
            <a:off x="640850" y="1620450"/>
            <a:ext cx="11049000" cy="45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pt" sz="1600">
                <a:latin typeface="Arial"/>
                <a:ea typeface="Arial"/>
                <a:cs typeface="Arial"/>
                <a:sym typeface="Arial"/>
              </a:rPr>
              <a:t>-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1"/>
          <p:cNvSpPr/>
          <p:nvPr/>
        </p:nvSpPr>
        <p:spPr>
          <a:xfrm rot="-130166">
            <a:off x="517352" y="694499"/>
            <a:ext cx="7608053" cy="619642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1"/>
          <p:cNvSpPr txBox="1"/>
          <p:nvPr>
            <p:ph type="title"/>
          </p:nvPr>
        </p:nvSpPr>
        <p:spPr>
          <a:xfrm>
            <a:off x="461654" y="54754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DESENVOLVIMENTO DE PROJECTO</a:t>
            </a:r>
            <a:endParaRPr/>
          </a:p>
        </p:txBody>
      </p:sp>
      <p:pic>
        <p:nvPicPr>
          <p:cNvPr descr="Image" id="418" name="Google Shape;41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5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20" name="Google Shape;420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21" name="Google Shape;421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5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3" name="Google Shape;423;p51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4" name="Google Shape;424;p51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51" title="train_0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31725" y="1317850"/>
            <a:ext cx="8050226" cy="53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2"/>
          <p:cNvSpPr txBox="1"/>
          <p:nvPr>
            <p:ph idx="1" type="body"/>
          </p:nvPr>
        </p:nvSpPr>
        <p:spPr>
          <a:xfrm>
            <a:off x="640850" y="1620450"/>
            <a:ext cx="11049000" cy="45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pt" sz="1600">
                <a:latin typeface="Arial"/>
                <a:ea typeface="Arial"/>
                <a:cs typeface="Arial"/>
                <a:sym typeface="Arial"/>
              </a:rPr>
              <a:t>-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2"/>
          <p:cNvSpPr/>
          <p:nvPr/>
        </p:nvSpPr>
        <p:spPr>
          <a:xfrm rot="-130166">
            <a:off x="517352" y="694499"/>
            <a:ext cx="7608053" cy="619642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2"/>
          <p:cNvSpPr txBox="1"/>
          <p:nvPr>
            <p:ph type="title"/>
          </p:nvPr>
        </p:nvSpPr>
        <p:spPr>
          <a:xfrm>
            <a:off x="461654" y="54754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DESENVOLVIMENTO DE PROJECTO</a:t>
            </a:r>
            <a:endParaRPr/>
          </a:p>
        </p:txBody>
      </p:sp>
      <p:pic>
        <p:nvPicPr>
          <p:cNvPr descr="Image" id="433" name="Google Shape;43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52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35" name="Google Shape;435;p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36" name="Google Shape;436;p5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p5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52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9" name="Google Shape;439;p52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p52" title="results_0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7171" y="1229537"/>
            <a:ext cx="8194874" cy="543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3"/>
          <p:cNvSpPr txBox="1"/>
          <p:nvPr>
            <p:ph idx="1" type="body"/>
          </p:nvPr>
        </p:nvSpPr>
        <p:spPr>
          <a:xfrm>
            <a:off x="548253" y="1574150"/>
            <a:ext cx="11049000" cy="45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1600"/>
              <a:buChar char="•"/>
            </a:pPr>
            <a:r>
              <a:rPr lang="pt" sz="16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16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3"/>
          <p:cNvSpPr/>
          <p:nvPr/>
        </p:nvSpPr>
        <p:spPr>
          <a:xfrm rot="-290395">
            <a:off x="532800" y="751820"/>
            <a:ext cx="2769876" cy="54463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53"/>
          <p:cNvSpPr txBox="1"/>
          <p:nvPr>
            <p:ph type="title"/>
          </p:nvPr>
        </p:nvSpPr>
        <p:spPr>
          <a:xfrm>
            <a:off x="532827" y="626822"/>
            <a:ext cx="29241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RESULTADOS</a:t>
            </a: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48" name="Google Shape;44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53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50" name="Google Shape;450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51" name="Google Shape;451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Google Shape;452;p5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3" name="Google Shape;453;p53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4" name="Google Shape;454;p53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53" title="Screenshot 2025-11-12 at 18.23.0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7025" y="2970775"/>
            <a:ext cx="10063650" cy="36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3" title="Screenshot 2025-11-12 at 18.20.52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2618" y="1475300"/>
            <a:ext cx="8745400" cy="173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4"/>
          <p:cNvSpPr txBox="1"/>
          <p:nvPr>
            <p:ph idx="1" type="body"/>
          </p:nvPr>
        </p:nvSpPr>
        <p:spPr>
          <a:xfrm>
            <a:off x="640850" y="1574150"/>
            <a:ext cx="11049000" cy="45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1600"/>
              <a:buChar char="•"/>
            </a:pPr>
            <a:r>
              <a:rPr lang="pt" sz="16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16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4"/>
          <p:cNvSpPr/>
          <p:nvPr/>
        </p:nvSpPr>
        <p:spPr>
          <a:xfrm rot="-290395">
            <a:off x="532800" y="751820"/>
            <a:ext cx="2769876" cy="54463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4"/>
          <p:cNvSpPr txBox="1"/>
          <p:nvPr>
            <p:ph type="title"/>
          </p:nvPr>
        </p:nvSpPr>
        <p:spPr>
          <a:xfrm>
            <a:off x="532827" y="626822"/>
            <a:ext cx="29241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RESULTADOS 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64" name="Google Shape;46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5" name="Google Shape;465;p54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66" name="Google Shape;466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67" name="Google Shape;467;p5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5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p54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0" name="Google Shape;470;p54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54" title="Screenshot 2025-11-12 at 18.21.4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5307" y="1269040"/>
            <a:ext cx="11163300" cy="53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5"/>
          <p:cNvSpPr txBox="1"/>
          <p:nvPr>
            <p:ph idx="1" type="body"/>
          </p:nvPr>
        </p:nvSpPr>
        <p:spPr>
          <a:xfrm>
            <a:off x="640850" y="1574150"/>
            <a:ext cx="11049000" cy="45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1600"/>
              <a:buChar char="•"/>
            </a:pPr>
            <a:r>
              <a:rPr lang="pt" sz="16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16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5"/>
          <p:cNvSpPr/>
          <p:nvPr/>
        </p:nvSpPr>
        <p:spPr>
          <a:xfrm rot="-290395">
            <a:off x="532800" y="751820"/>
            <a:ext cx="2769876" cy="54463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55"/>
          <p:cNvSpPr txBox="1"/>
          <p:nvPr>
            <p:ph type="title"/>
          </p:nvPr>
        </p:nvSpPr>
        <p:spPr>
          <a:xfrm>
            <a:off x="532827" y="626822"/>
            <a:ext cx="29241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RESULTADOS 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79" name="Google Shape;47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55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81" name="Google Shape;481;p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82" name="Google Shape;482;p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3" name="Google Shape;483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4" name="Google Shape;484;p55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5" name="Google Shape;485;p55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6" name="Google Shape;486;p55" title="result_01_logistic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71875" y="1704459"/>
            <a:ext cx="5326900" cy="4550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5" title="result_03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5200" y="1668225"/>
            <a:ext cx="5326908" cy="45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6"/>
          <p:cNvSpPr/>
          <p:nvPr/>
        </p:nvSpPr>
        <p:spPr>
          <a:xfrm rot="-290395">
            <a:off x="532800" y="751820"/>
            <a:ext cx="2769876" cy="54463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56"/>
          <p:cNvSpPr txBox="1"/>
          <p:nvPr>
            <p:ph type="title"/>
          </p:nvPr>
        </p:nvSpPr>
        <p:spPr>
          <a:xfrm>
            <a:off x="532827" y="626822"/>
            <a:ext cx="29241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RESULTADOS 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94" name="Google Shape;49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5" name="Google Shape;495;p56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96" name="Google Shape;496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97" name="Google Shape;497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5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56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0" name="Google Shape;500;p56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1" name="Google Shape;501;p56" title="result_01_lLG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35147" y="1496222"/>
            <a:ext cx="5737739" cy="516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7"/>
          <p:cNvSpPr txBox="1"/>
          <p:nvPr>
            <p:ph idx="1" type="body"/>
          </p:nvPr>
        </p:nvSpPr>
        <p:spPr>
          <a:xfrm>
            <a:off x="640850" y="1574150"/>
            <a:ext cx="11049000" cy="45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1600"/>
              <a:buChar char="•"/>
            </a:pPr>
            <a:r>
              <a:rPr lang="pt" sz="16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16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57"/>
          <p:cNvSpPr/>
          <p:nvPr/>
        </p:nvSpPr>
        <p:spPr>
          <a:xfrm rot="-290395">
            <a:off x="532800" y="751820"/>
            <a:ext cx="2769876" cy="54463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57"/>
          <p:cNvSpPr txBox="1"/>
          <p:nvPr>
            <p:ph type="title"/>
          </p:nvPr>
        </p:nvSpPr>
        <p:spPr>
          <a:xfrm>
            <a:off x="532827" y="626822"/>
            <a:ext cx="29241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RESULTADOS 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509" name="Google Shape;50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0" name="Google Shape;510;p57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511" name="Google Shape;511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512" name="Google Shape;512;p5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5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57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5" name="Google Shape;515;p57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6" name="Google Shape;516;p57" title="features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3150" y="1280925"/>
            <a:ext cx="9414074" cy="528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8"/>
          <p:cNvSpPr txBox="1"/>
          <p:nvPr>
            <p:ph idx="1" type="body"/>
          </p:nvPr>
        </p:nvSpPr>
        <p:spPr>
          <a:xfrm>
            <a:off x="640850" y="1666750"/>
            <a:ext cx="108105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300"/>
              <a:buFont typeface="Arial"/>
              <a:buChar char="•"/>
            </a:pP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Modelo de IA treinado com bons resultados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300"/>
              <a:buFont typeface="Arial"/>
              <a:buChar char="•"/>
            </a:pP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API em desenvolvimento para servir recomendações sustentáveis em tempo real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300"/>
              <a:buChar char="•"/>
            </a:pP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PRÓXIMOS TRABALHOS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300"/>
              <a:buFont typeface="Arial"/>
              <a:buChar char="•"/>
            </a:pP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Recomendação híbrida e integração com certificações verdes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300"/>
              <a:buFont typeface="Arial"/>
              <a:buChar char="•"/>
            </a:pP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Expansão para outros países da África Austral</a:t>
            </a:r>
            <a:endParaRPr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300"/>
              <a:buFont typeface="Arial"/>
              <a:buChar char="•"/>
            </a:pP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Aplicação de IA multimodal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(texto + imagem)</a:t>
            </a:r>
            <a:endParaRPr b="1"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551"/>
              </a:buClr>
              <a:buSzPts val="2300"/>
              <a:buFont typeface="Arial"/>
              <a:buChar char="•"/>
            </a:pPr>
            <a:r>
              <a:rPr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Parcerias e publicação </a:t>
            </a:r>
            <a:r>
              <a:rPr b="1" lang="pt" sz="2300">
                <a:solidFill>
                  <a:srgbClr val="2B2551"/>
                </a:solidFill>
                <a:latin typeface="Arial"/>
                <a:ea typeface="Arial"/>
                <a:cs typeface="Arial"/>
                <a:sym typeface="Arial"/>
              </a:rPr>
              <a:t>open science</a:t>
            </a:r>
            <a:endParaRPr b="1" sz="2300">
              <a:solidFill>
                <a:srgbClr val="2B25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58"/>
          <p:cNvSpPr/>
          <p:nvPr/>
        </p:nvSpPr>
        <p:spPr>
          <a:xfrm rot="-182152">
            <a:off x="461660" y="694485"/>
            <a:ext cx="7239260" cy="560587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8"/>
          <p:cNvSpPr txBox="1"/>
          <p:nvPr>
            <p:ph type="title"/>
          </p:nvPr>
        </p:nvSpPr>
        <p:spPr>
          <a:xfrm>
            <a:off x="461654" y="539761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icrosoft YaHei"/>
              <a:buNone/>
            </a:pP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CONCLUS</a:t>
            </a:r>
            <a:r>
              <a:rPr b="1" lang="pt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ÃO E TRABALHOS FUTUROS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524" name="Google Shape;52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5" name="Google Shape;525;p58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526" name="Google Shape;526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527" name="Google Shape;527;p5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p5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9" name="Google Shape;529;p58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0" name="Google Shape;530;p58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9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536" name="Google Shape;53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537" name="Google Shape;537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538" name="Google Shape;538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539" name="Google Shape;539;p59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40" name="Google Shape;540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7704" y="2355271"/>
            <a:ext cx="2919045" cy="2837091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9"/>
          <p:cNvSpPr txBox="1"/>
          <p:nvPr>
            <p:ph idx="4294967295" type="ctrTitle"/>
          </p:nvPr>
        </p:nvSpPr>
        <p:spPr>
          <a:xfrm>
            <a:off x="3508744" y="3211033"/>
            <a:ext cx="5247251" cy="2449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Microsoft YaHei"/>
              <a:buNone/>
            </a:pPr>
            <a:r>
              <a:rPr b="1" i="0" lang="pt" sz="80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Obrigado!</a:t>
            </a:r>
            <a:endParaRPr b="1" i="0" sz="80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542" name="Google Shape;542;p5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603668" y="647699"/>
            <a:ext cx="5015131" cy="702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